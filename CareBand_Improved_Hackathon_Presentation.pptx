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527304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7517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6688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49611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359679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59025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846314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688808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16241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677385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204724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29527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10/14/2026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5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142F4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椭圆"/>
          <p:cNvSpPr>
            <a:spLocks/>
          </p:cNvSpPr>
          <p:nvPr/>
        </p:nvSpPr>
        <p:spPr>
          <a:xfrm rot="0">
            <a:off x="8503920" y="640080"/>
            <a:ext cx="2926080" cy="2926080"/>
          </a:xfrm>
          <a:prstGeom prst="ellipse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" name="椭圆"/>
          <p:cNvSpPr>
            <a:spLocks/>
          </p:cNvSpPr>
          <p:nvPr/>
        </p:nvSpPr>
        <p:spPr>
          <a:xfrm rot="0">
            <a:off x="9601200" y="3200400"/>
            <a:ext cx="1554480" cy="1554480"/>
          </a:xfrm>
          <a:prstGeom prst="ellipse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" name="矩形"/>
          <p:cNvSpPr>
            <a:spLocks/>
          </p:cNvSpPr>
          <p:nvPr/>
        </p:nvSpPr>
        <p:spPr>
          <a:xfrm rot="0">
            <a:off x="731520" y="960120"/>
            <a:ext cx="7040880" cy="7113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</a:t>
            </a:r>
            <a:endParaRPr lang="zh-CN" altLang="en-US" sz="42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777240" y="1828800"/>
            <a:ext cx="6858000" cy="4446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500" b="0" i="0" u="none" strike="noStrike" kern="1200" cap="none" spc="0" baseline="0">
                <a:solidFill>
                  <a:srgbClr val="9BEB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Smart Assistive Wristband</a:t>
            </a:r>
            <a:endParaRPr lang="zh-CN" altLang="en-US" sz="2500" b="0" i="0" u="none" strike="noStrike" kern="1200" cap="none" spc="0" baseline="0">
              <a:solidFill>
                <a:srgbClr val="9BEB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777240" y="2560320"/>
            <a:ext cx="7040880" cy="3874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1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Small vibrations. Greater independence.</a:t>
            </a:r>
            <a:endParaRPr lang="zh-CN" altLang="en-US" sz="21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777240" y="3291840"/>
            <a:ext cx="6675120" cy="6065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An affordable assistive concept for older adults and people with hearing or mobility challenges.</a:t>
            </a:r>
            <a:endParaRPr lang="zh-CN" altLang="en-US" sz="18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777240" y="4754880"/>
            <a:ext cx="6400800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BEB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MYBHARAT • HACK FOR SOCIAL CAUSE</a:t>
            </a:r>
            <a:endParaRPr lang="zh-CN" altLang="en-US" sz="1300" b="0" i="0" u="none" strike="noStrike" kern="1200" cap="none" spc="0" baseline="0">
              <a:solidFill>
                <a:srgbClr val="9BEB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1215383" y="5314949"/>
            <a:ext cx="640080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Team: __________________________</a:t>
            </a:r>
            <a:endParaRPr lang="en-US" altLang="zh-CN" sz="12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Members: _______________________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11201399" y="6400800"/>
            <a:ext cx="365760" cy="1969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01</a:t>
            </a:r>
            <a:endParaRPr lang="zh-CN" altLang="en-US" sz="9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703005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problem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Everyday safety and accessibility gaps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02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" name="圆角矩形"/>
          <p:cNvSpPr>
            <a:spLocks/>
          </p:cNvSpPr>
          <p:nvPr/>
        </p:nvSpPr>
        <p:spPr>
          <a:xfrm rot="0">
            <a:off x="640080" y="1645920"/>
            <a:ext cx="530352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" name="矩形"/>
          <p:cNvSpPr>
            <a:spLocks/>
          </p:cNvSpPr>
          <p:nvPr/>
        </p:nvSpPr>
        <p:spPr>
          <a:xfrm rot="0">
            <a:off x="640080" y="1645920"/>
            <a:ext cx="73151" cy="141732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822959" y="175564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Important sounds can be missed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822959" y="2148840"/>
            <a:ext cx="498348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person with hearing loss may not notice a doorbell, timer, or household alert.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" name="圆角矩形"/>
          <p:cNvSpPr>
            <a:spLocks/>
          </p:cNvSpPr>
          <p:nvPr/>
        </p:nvSpPr>
        <p:spPr>
          <a:xfrm rot="0">
            <a:off x="6217920" y="1645920"/>
            <a:ext cx="530352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0" name="矩形"/>
          <p:cNvSpPr>
            <a:spLocks/>
          </p:cNvSpPr>
          <p:nvPr/>
        </p:nvSpPr>
        <p:spPr>
          <a:xfrm rot="0">
            <a:off x="6217920" y="1645920"/>
            <a:ext cx="73151" cy="141732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" name="矩形"/>
          <p:cNvSpPr>
            <a:spLocks/>
          </p:cNvSpPr>
          <p:nvPr/>
        </p:nvSpPr>
        <p:spPr>
          <a:xfrm rot="0">
            <a:off x="6400800" y="175564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Help may not be within reach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6400800" y="2148840"/>
            <a:ext cx="498348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After a fall or sudden difficulty, reaching a phone can be hard.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圆角矩形"/>
          <p:cNvSpPr>
            <a:spLocks/>
          </p:cNvSpPr>
          <p:nvPr/>
        </p:nvSpPr>
        <p:spPr>
          <a:xfrm rot="0">
            <a:off x="640080" y="3337560"/>
            <a:ext cx="530352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" name="矩形"/>
          <p:cNvSpPr>
            <a:spLocks/>
          </p:cNvSpPr>
          <p:nvPr/>
        </p:nvSpPr>
        <p:spPr>
          <a:xfrm rot="0">
            <a:off x="640080" y="3337560"/>
            <a:ext cx="73151" cy="141732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" name="矩形"/>
          <p:cNvSpPr>
            <a:spLocks/>
          </p:cNvSpPr>
          <p:nvPr/>
        </p:nvSpPr>
        <p:spPr>
          <a:xfrm rot="0">
            <a:off x="822959" y="344728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Routine reminders are easy to miss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822959" y="3840480"/>
            <a:ext cx="4983480" cy="2922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Medication or daily-task reminders may be overlooked.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圆角矩形"/>
          <p:cNvSpPr>
            <a:spLocks/>
          </p:cNvSpPr>
          <p:nvPr/>
        </p:nvSpPr>
        <p:spPr>
          <a:xfrm rot="0">
            <a:off x="6217920" y="3337560"/>
            <a:ext cx="530352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" name="矩形"/>
          <p:cNvSpPr>
            <a:spLocks/>
          </p:cNvSpPr>
          <p:nvPr/>
        </p:nvSpPr>
        <p:spPr>
          <a:xfrm rot="0">
            <a:off x="6217920" y="3337560"/>
            <a:ext cx="73151" cy="141732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" name="矩形"/>
          <p:cNvSpPr>
            <a:spLocks/>
          </p:cNvSpPr>
          <p:nvPr/>
        </p:nvSpPr>
        <p:spPr>
          <a:xfrm rot="0">
            <a:off x="6400800" y="344728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Solutions can feel complicated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6400800" y="3840480"/>
            <a:ext cx="498348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useful aid should be simple, wearable, and designed around the user.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777240" y="5212080"/>
            <a:ext cx="10789920" cy="358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Need: an affordable way to provide discreet alerts and an easy request-for-help button.</a:t>
            </a:r>
            <a:endParaRPr lang="zh-CN" altLang="en-US" sz="19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4316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Our solution: CareBand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wrist-worn alert concept built around simple signals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03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7" name="圆角矩形"/>
          <p:cNvSpPr>
            <a:spLocks/>
          </p:cNvSpPr>
          <p:nvPr/>
        </p:nvSpPr>
        <p:spPr>
          <a:xfrm rot="0">
            <a:off x="640080" y="1645920"/>
            <a:ext cx="3520440" cy="31546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" name="矩形"/>
          <p:cNvSpPr>
            <a:spLocks/>
          </p:cNvSpPr>
          <p:nvPr/>
        </p:nvSpPr>
        <p:spPr>
          <a:xfrm rot="0">
            <a:off x="640080" y="1645920"/>
            <a:ext cx="73151" cy="315468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9" name="矩形"/>
          <p:cNvSpPr>
            <a:spLocks/>
          </p:cNvSpPr>
          <p:nvPr/>
        </p:nvSpPr>
        <p:spPr>
          <a:xfrm rot="0">
            <a:off x="822959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 • Notice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 rot="0">
            <a:off x="822959" y="2148840"/>
            <a:ext cx="3200400" cy="7875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sound sensor monitors configured sound levels. A motion sensor measures movement.</a:t>
            </a:r>
            <a:endParaRPr lang="zh-CN" altLang="en-US" sz="16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1" name="圆角矩形"/>
          <p:cNvSpPr>
            <a:spLocks/>
          </p:cNvSpPr>
          <p:nvPr/>
        </p:nvSpPr>
        <p:spPr>
          <a:xfrm rot="0">
            <a:off x="4343400" y="1645920"/>
            <a:ext cx="3520440" cy="31546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" name="矩形"/>
          <p:cNvSpPr>
            <a:spLocks/>
          </p:cNvSpPr>
          <p:nvPr/>
        </p:nvSpPr>
        <p:spPr>
          <a:xfrm rot="0">
            <a:off x="4343400" y="1645920"/>
            <a:ext cx="73151" cy="315468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" name="矩形"/>
          <p:cNvSpPr>
            <a:spLocks/>
          </p:cNvSpPr>
          <p:nvPr/>
        </p:nvSpPr>
        <p:spPr>
          <a:xfrm rot="0">
            <a:off x="4526280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2 • Alert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4526280" y="2148840"/>
            <a:ext cx="3200400" cy="7875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controller activates vibration patterns or a visual indicator so the wearer can respond.</a:t>
            </a:r>
            <a:endParaRPr lang="zh-CN" altLang="en-US" sz="16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" name="圆角矩形"/>
          <p:cNvSpPr>
            <a:spLocks/>
          </p:cNvSpPr>
          <p:nvPr/>
        </p:nvSpPr>
        <p:spPr>
          <a:xfrm rot="0">
            <a:off x="8046719" y="1645920"/>
            <a:ext cx="3520440" cy="31546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" name="矩形"/>
          <p:cNvSpPr>
            <a:spLocks/>
          </p:cNvSpPr>
          <p:nvPr/>
        </p:nvSpPr>
        <p:spPr>
          <a:xfrm rot="0">
            <a:off x="8046719" y="1645920"/>
            <a:ext cx="73151" cy="315468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" name="矩形"/>
          <p:cNvSpPr>
            <a:spLocks/>
          </p:cNvSpPr>
          <p:nvPr/>
        </p:nvSpPr>
        <p:spPr>
          <a:xfrm rot="0">
            <a:off x="8229600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3 • Request help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8229600" y="2148840"/>
            <a:ext cx="3200400" cy="7875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An SOS button triggers a local alert. Remote messages need a phone or network connection.</a:t>
            </a:r>
            <a:endParaRPr lang="zh-CN" altLang="en-US" sz="16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822960" y="5303520"/>
            <a:ext cx="10607040" cy="3303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Design principle: keep the first prototype reliable, affordable, and easy to understand.</a:t>
            </a:r>
            <a:endParaRPr lang="zh-CN" altLang="en-US" sz="17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77693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1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Concept model and wearable layout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3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Illustrative design — not a finished or tested device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04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5" name="圆角矩形"/>
          <p:cNvSpPr>
            <a:spLocks/>
          </p:cNvSpPr>
          <p:nvPr/>
        </p:nvSpPr>
        <p:spPr>
          <a:xfrm rot="0">
            <a:off x="914400" y="1737360"/>
            <a:ext cx="2560320" cy="3383279"/>
          </a:xfrm>
          <a:prstGeom prst="roundRect">
            <a:avLst>
              <a:gd name="adj" fmla="val 16666"/>
            </a:avLst>
          </a:prstGeom>
          <a:solidFill>
            <a:srgbClr val="142F4E"/>
          </a:solidFill>
          <a:ln w="25400" cmpd="sng" cap="flat">
            <a:solidFill>
              <a:srgbClr val="00898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6" name="圆角矩形"/>
          <p:cNvSpPr>
            <a:spLocks/>
          </p:cNvSpPr>
          <p:nvPr/>
        </p:nvSpPr>
        <p:spPr>
          <a:xfrm rot="0">
            <a:off x="1417320" y="2240280"/>
            <a:ext cx="1554480" cy="2377440"/>
          </a:xfrm>
          <a:prstGeom prst="roundRect">
            <a:avLst>
              <a:gd name="adj" fmla="val 16666"/>
            </a:avLst>
          </a:prstGeom>
          <a:solidFill>
            <a:srgbClr val="2D4B6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7" name="椭圆"/>
          <p:cNvSpPr>
            <a:spLocks/>
          </p:cNvSpPr>
          <p:nvPr/>
        </p:nvSpPr>
        <p:spPr>
          <a:xfrm rot="0">
            <a:off x="1874519" y="2926080"/>
            <a:ext cx="640079" cy="640079"/>
          </a:xfrm>
          <a:prstGeom prst="ellipse"/>
          <a:solidFill>
            <a:srgbClr val="00898B"/>
          </a:solidFill>
          <a:ln w="9525" cmpd="sng" cap="flat">
            <a:solidFill>
              <a:srgbClr val="FFFFFF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8" name="矩形"/>
          <p:cNvSpPr>
            <a:spLocks/>
          </p:cNvSpPr>
          <p:nvPr/>
        </p:nvSpPr>
        <p:spPr>
          <a:xfrm rot="0">
            <a:off x="1975103" y="3136392"/>
            <a:ext cx="457200" cy="2160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SOS</a:t>
            </a:r>
            <a:endParaRPr lang="zh-CN" altLang="en-US" sz="10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822960" y="5303520"/>
            <a:ext cx="2743200" cy="2827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Concept wristband</a:t>
            </a:r>
            <a:endParaRPr lang="zh-CN" altLang="en-US" sz="14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0" name="圆角矩形"/>
          <p:cNvSpPr>
            <a:spLocks/>
          </p:cNvSpPr>
          <p:nvPr/>
        </p:nvSpPr>
        <p:spPr>
          <a:xfrm rot="0">
            <a:off x="4023359" y="1645920"/>
            <a:ext cx="3337560" cy="10972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4023359" y="1645920"/>
            <a:ext cx="73151" cy="1097280"/>
          </a:xfrm>
          <a:prstGeom prst="rect"/>
          <a:solidFill>
            <a:srgbClr val="DC4C4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2" name="矩形"/>
          <p:cNvSpPr>
            <a:spLocks/>
          </p:cNvSpPr>
          <p:nvPr/>
        </p:nvSpPr>
        <p:spPr>
          <a:xfrm rot="0">
            <a:off x="4206240" y="1755648"/>
            <a:ext cx="301751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SOS button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 rot="0">
            <a:off x="4206240" y="2148840"/>
            <a:ext cx="3017519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Easy to locate by touch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4" name="圆角矩形"/>
          <p:cNvSpPr>
            <a:spLocks/>
          </p:cNvSpPr>
          <p:nvPr/>
        </p:nvSpPr>
        <p:spPr>
          <a:xfrm rot="0">
            <a:off x="7635240" y="1645920"/>
            <a:ext cx="3474720" cy="10972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5" name="矩形"/>
          <p:cNvSpPr>
            <a:spLocks/>
          </p:cNvSpPr>
          <p:nvPr/>
        </p:nvSpPr>
        <p:spPr>
          <a:xfrm rot="0">
            <a:off x="7635240" y="1645920"/>
            <a:ext cx="73151" cy="109728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6" name="矩形"/>
          <p:cNvSpPr>
            <a:spLocks/>
          </p:cNvSpPr>
          <p:nvPr/>
        </p:nvSpPr>
        <p:spPr>
          <a:xfrm rot="0">
            <a:off x="7818118" y="1755648"/>
            <a:ext cx="315467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Vibration motor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7818118" y="2148840"/>
            <a:ext cx="3154679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Private tactile notifications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8" name="圆角矩形"/>
          <p:cNvSpPr>
            <a:spLocks/>
          </p:cNvSpPr>
          <p:nvPr/>
        </p:nvSpPr>
        <p:spPr>
          <a:xfrm rot="0">
            <a:off x="4023359" y="2971799"/>
            <a:ext cx="3337560" cy="10972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9" name="矩形"/>
          <p:cNvSpPr>
            <a:spLocks/>
          </p:cNvSpPr>
          <p:nvPr/>
        </p:nvSpPr>
        <p:spPr>
          <a:xfrm rot="0">
            <a:off x="4023359" y="2971799"/>
            <a:ext cx="73151" cy="109728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0" name="矩形"/>
          <p:cNvSpPr>
            <a:spLocks/>
          </p:cNvSpPr>
          <p:nvPr/>
        </p:nvSpPr>
        <p:spPr>
          <a:xfrm rot="0">
            <a:off x="4206240" y="3081528"/>
            <a:ext cx="301751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Sound sensor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4206240" y="3474720"/>
            <a:ext cx="3017519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Detects configured sound level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2" name="圆角矩形"/>
          <p:cNvSpPr>
            <a:spLocks/>
          </p:cNvSpPr>
          <p:nvPr/>
        </p:nvSpPr>
        <p:spPr>
          <a:xfrm rot="0">
            <a:off x="7635240" y="2971799"/>
            <a:ext cx="3474720" cy="10972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3" name="矩形"/>
          <p:cNvSpPr>
            <a:spLocks/>
          </p:cNvSpPr>
          <p:nvPr/>
        </p:nvSpPr>
        <p:spPr>
          <a:xfrm rot="0">
            <a:off x="7635240" y="2971799"/>
            <a:ext cx="73151" cy="109728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4" name="矩形"/>
          <p:cNvSpPr>
            <a:spLocks/>
          </p:cNvSpPr>
          <p:nvPr/>
        </p:nvSpPr>
        <p:spPr>
          <a:xfrm rot="0">
            <a:off x="7818118" y="3081528"/>
            <a:ext cx="315467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Motion sensor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7818118" y="3474720"/>
            <a:ext cx="3154679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Measures movement for testing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6" name="圆角矩形"/>
          <p:cNvSpPr>
            <a:spLocks/>
          </p:cNvSpPr>
          <p:nvPr/>
        </p:nvSpPr>
        <p:spPr>
          <a:xfrm rot="0">
            <a:off x="4023359" y="4297680"/>
            <a:ext cx="7086600" cy="10972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7" name="矩形"/>
          <p:cNvSpPr>
            <a:spLocks/>
          </p:cNvSpPr>
          <p:nvPr/>
        </p:nvSpPr>
        <p:spPr>
          <a:xfrm rot="0">
            <a:off x="4023359" y="4297680"/>
            <a:ext cx="73151" cy="109728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8" name="矩形"/>
          <p:cNvSpPr>
            <a:spLocks/>
          </p:cNvSpPr>
          <p:nvPr/>
        </p:nvSpPr>
        <p:spPr>
          <a:xfrm rot="0">
            <a:off x="4206240" y="4407408"/>
            <a:ext cx="676655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Controller + power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9" name="矩形"/>
          <p:cNvSpPr>
            <a:spLocks/>
          </p:cNvSpPr>
          <p:nvPr/>
        </p:nvSpPr>
        <p:spPr>
          <a:xfrm rot="0">
            <a:off x="4206240" y="4800600"/>
            <a:ext cx="6766559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ESP32 processes readings; a safe power source supplies the circuit.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0" name="矩形"/>
          <p:cNvSpPr>
            <a:spLocks/>
          </p:cNvSpPr>
          <p:nvPr/>
        </p:nvSpPr>
        <p:spPr>
          <a:xfrm rot="0">
            <a:off x="822960" y="5852160"/>
            <a:ext cx="10515600" cy="2541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case and strap should be adjusted for comfort and accessibility.</a:t>
            </a:r>
            <a:endParaRPr lang="zh-CN" altLang="en-US" sz="12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02681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2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Prototype components and budget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Indicative costs; verify current local prices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05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graphicFrame>
        <p:nvGraphicFramePr>
          <p:cNvPr id="96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640080" y="1554480"/>
          <a:ext cx="10881359" cy="438912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3840467"/>
                <a:gridCol w="4571987"/>
                <a:gridCol w="2468854"/>
              </a:tblGrid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Part</a:t>
                      </a:r>
                      <a:endParaRPr lang="zh-CN" altLang="en-US" sz="1200" b="0" i="0" u="none" strike="noStrike" kern="1200" cap="none" spc="0" baseline="0">
                        <a:solidFill>
                          <a:srgbClr val="FFFFFF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Purpose</a:t>
                      </a:r>
                      <a:endParaRPr lang="zh-CN" altLang="en-US" sz="1200" b="0" i="0" u="none" strike="noStrike" kern="1200" cap="none" spc="0" baseline="0">
                        <a:solidFill>
                          <a:srgbClr val="FFFFFF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Estimate (₹)</a:t>
                      </a:r>
                      <a:endParaRPr lang="zh-CN" altLang="en-US" sz="1200" b="0" i="0" u="none" strike="noStrike" kern="1200" cap="none" spc="0" baseline="0">
                        <a:solidFill>
                          <a:srgbClr val="FFFFFF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F4E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ESP32 development board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Main controller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350–600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Sound sensor / microphone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Sound threshold detection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50–200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MPU6050 motion sensor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Movement data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100–200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Vibration motor + driver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Tactile alert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40–120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Push button, LED / buzzer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SOS and status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20–80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Breadboard + jumper wires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Connections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100–200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C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USB cable / power source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Power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150–400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67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Estimated basic total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GPS/cellular excluded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142F4E"/>
                          </a:solidFill>
                          <a:latin typeface="Calibri" pitchFamily="0" charset="0"/>
                          <a:ea typeface="宋体" pitchFamily="0" charset="0"/>
                          <a:cs typeface="Calibri" pitchFamily="0" charset="0"/>
                        </a:rPr>
                        <a:t>810–1,800</a:t>
                      </a:r>
                      <a:endParaRPr lang="zh-CN" altLang="en-US" sz="1200" b="0" i="0" u="none" strike="noStrike" kern="1200" cap="none" spc="0" baseline="0">
                        <a:solidFill>
                          <a:srgbClr val="142F4E"/>
                        </a:solidFill>
                        <a:latin typeface="Calibri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91440" marT="0" marR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6F0"/>
                    </a:solidFill>
                  </a:tcPr>
                </a:tc>
              </a:tr>
            </a:tbl>
          </a:graphicData>
        </a:graphic>
      </p:graphicFrame>
      <p:sp>
        <p:nvSpPr>
          <p:cNvPr id="97" name="矩形"/>
          <p:cNvSpPr>
            <a:spLocks/>
          </p:cNvSpPr>
          <p:nvPr/>
        </p:nvSpPr>
        <p:spPr>
          <a:xfrm rot="0">
            <a:off x="731520" y="6035039"/>
            <a:ext cx="10515600" cy="2541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DC4C4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Do not connect the vibration motor directly to an ESP32 GPIO pin; use a suitable driver.</a:t>
            </a:r>
            <a:endParaRPr lang="zh-CN" altLang="en-US" sz="1200" b="0" i="0" u="none" strike="noStrike" kern="1200" cap="none" spc="0" baseline="0">
              <a:solidFill>
                <a:srgbClr val="DC4C4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1054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9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How CareBand works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0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1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Simple system flow for the first prototype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06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3" name="圆角矩形"/>
          <p:cNvSpPr>
            <a:spLocks/>
          </p:cNvSpPr>
          <p:nvPr/>
        </p:nvSpPr>
        <p:spPr>
          <a:xfrm rot="0">
            <a:off x="594360" y="2057400"/>
            <a:ext cx="2285999" cy="19659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4" name="矩形"/>
          <p:cNvSpPr>
            <a:spLocks/>
          </p:cNvSpPr>
          <p:nvPr/>
        </p:nvSpPr>
        <p:spPr>
          <a:xfrm rot="0">
            <a:off x="594360" y="2057400"/>
            <a:ext cx="73152" cy="196596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5" name="矩形"/>
          <p:cNvSpPr>
            <a:spLocks/>
          </p:cNvSpPr>
          <p:nvPr/>
        </p:nvSpPr>
        <p:spPr>
          <a:xfrm rot="0">
            <a:off x="777240" y="2167128"/>
            <a:ext cx="196596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SENSORS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 rot="0">
            <a:off x="777240" y="2560320"/>
            <a:ext cx="1965960" cy="587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Sound module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Motion sensor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2926079" y="2788920"/>
            <a:ext cx="411479" cy="4160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→</a:t>
            </a:r>
            <a:endParaRPr lang="zh-CN" altLang="en-US" sz="23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8" name="圆角矩形"/>
          <p:cNvSpPr>
            <a:spLocks/>
          </p:cNvSpPr>
          <p:nvPr/>
        </p:nvSpPr>
        <p:spPr>
          <a:xfrm rot="0">
            <a:off x="3474720" y="2057400"/>
            <a:ext cx="2286000" cy="19659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9" name="矩形"/>
          <p:cNvSpPr>
            <a:spLocks/>
          </p:cNvSpPr>
          <p:nvPr/>
        </p:nvSpPr>
        <p:spPr>
          <a:xfrm rot="0">
            <a:off x="3474720" y="2057400"/>
            <a:ext cx="73151" cy="196596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3657600" y="2167128"/>
            <a:ext cx="196595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CONTROLLER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3657600" y="2560320"/>
            <a:ext cx="1965959" cy="587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ESP32 reads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and checks rules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5806440" y="2788920"/>
            <a:ext cx="411480" cy="4160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→</a:t>
            </a:r>
            <a:endParaRPr lang="zh-CN" altLang="en-US" sz="23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3" name="圆角矩形"/>
          <p:cNvSpPr>
            <a:spLocks/>
          </p:cNvSpPr>
          <p:nvPr/>
        </p:nvSpPr>
        <p:spPr>
          <a:xfrm rot="0">
            <a:off x="6355080" y="2057400"/>
            <a:ext cx="2286000" cy="19659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6355080" y="2057400"/>
            <a:ext cx="73151" cy="196596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5" name="矩形"/>
          <p:cNvSpPr>
            <a:spLocks/>
          </p:cNvSpPr>
          <p:nvPr/>
        </p:nvSpPr>
        <p:spPr>
          <a:xfrm rot="0">
            <a:off x="6537960" y="2167128"/>
            <a:ext cx="1965959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ALERT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 rot="0">
            <a:off x="6537960" y="2560320"/>
            <a:ext cx="1965959" cy="587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Vibration motor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LED / buzzer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8686800" y="2788920"/>
            <a:ext cx="411480" cy="4160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→</a:t>
            </a:r>
            <a:endParaRPr lang="zh-CN" altLang="en-US" sz="23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8" name="圆角矩形"/>
          <p:cNvSpPr>
            <a:spLocks/>
          </p:cNvSpPr>
          <p:nvPr/>
        </p:nvSpPr>
        <p:spPr>
          <a:xfrm rot="0">
            <a:off x="9235440" y="2057400"/>
            <a:ext cx="2285999" cy="19659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9" name="矩形"/>
          <p:cNvSpPr>
            <a:spLocks/>
          </p:cNvSpPr>
          <p:nvPr/>
        </p:nvSpPr>
        <p:spPr>
          <a:xfrm rot="0">
            <a:off x="9235440" y="2057400"/>
            <a:ext cx="73151" cy="196596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0" name="矩形"/>
          <p:cNvSpPr>
            <a:spLocks/>
          </p:cNvSpPr>
          <p:nvPr/>
        </p:nvSpPr>
        <p:spPr>
          <a:xfrm rot="0">
            <a:off x="9418319" y="2167128"/>
            <a:ext cx="196596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USER ACTION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1" name="矩形"/>
          <p:cNvSpPr>
            <a:spLocks/>
          </p:cNvSpPr>
          <p:nvPr/>
        </p:nvSpPr>
        <p:spPr>
          <a:xfrm rot="0">
            <a:off x="9418319" y="2560320"/>
            <a:ext cx="1965960" cy="587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Recognize alert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or press SOS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822960" y="4709160"/>
            <a:ext cx="10515600" cy="587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Remote alerts require a communication path (paired phone, Wi-Fi, or cellular module). GPS alone cannot send a message.</a:t>
            </a:r>
            <a:endParaRPr lang="zh-CN" altLang="en-US" sz="17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6960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4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Feature-by-feature explanation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5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6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What is realistic in a student prototype?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07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8" name="圆角矩形"/>
          <p:cNvSpPr>
            <a:spLocks/>
          </p:cNvSpPr>
          <p:nvPr/>
        </p:nvSpPr>
        <p:spPr>
          <a:xfrm rot="0">
            <a:off x="640080" y="1554480"/>
            <a:ext cx="539496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9" name="矩形"/>
          <p:cNvSpPr>
            <a:spLocks/>
          </p:cNvSpPr>
          <p:nvPr/>
        </p:nvSpPr>
        <p:spPr>
          <a:xfrm rot="0">
            <a:off x="640080" y="1554480"/>
            <a:ext cx="73151" cy="141732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822959" y="1664207"/>
            <a:ext cx="507492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Sound → vibration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822959" y="2057400"/>
            <a:ext cx="5074920" cy="4541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Above-threshold sound triggers vibration. A basic sensor does not identify cooker whistle versus doorbell.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2" name="圆角矩形"/>
          <p:cNvSpPr>
            <a:spLocks/>
          </p:cNvSpPr>
          <p:nvPr/>
        </p:nvSpPr>
        <p:spPr>
          <a:xfrm rot="0">
            <a:off x="6217920" y="1554480"/>
            <a:ext cx="530352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3" name="矩形"/>
          <p:cNvSpPr>
            <a:spLocks/>
          </p:cNvSpPr>
          <p:nvPr/>
        </p:nvSpPr>
        <p:spPr>
          <a:xfrm rot="0">
            <a:off x="6217920" y="1554480"/>
            <a:ext cx="73151" cy="141732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4" name="矩形"/>
          <p:cNvSpPr>
            <a:spLocks/>
          </p:cNvSpPr>
          <p:nvPr/>
        </p:nvSpPr>
        <p:spPr>
          <a:xfrm rot="0">
            <a:off x="6400800" y="1664207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Possible-fall alert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5" name="矩形"/>
          <p:cNvSpPr>
            <a:spLocks/>
          </p:cNvSpPr>
          <p:nvPr/>
        </p:nvSpPr>
        <p:spPr>
          <a:xfrm rot="0">
            <a:off x="6400800" y="2057400"/>
            <a:ext cx="4983480" cy="4541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Motion rules can create false alarms or miss falls. Demonstrate safely with hand movements only.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6" name="圆角矩形"/>
          <p:cNvSpPr>
            <a:spLocks/>
          </p:cNvSpPr>
          <p:nvPr/>
        </p:nvSpPr>
        <p:spPr>
          <a:xfrm rot="0">
            <a:off x="640080" y="3246120"/>
            <a:ext cx="539496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7" name="矩形"/>
          <p:cNvSpPr>
            <a:spLocks/>
          </p:cNvSpPr>
          <p:nvPr/>
        </p:nvSpPr>
        <p:spPr>
          <a:xfrm rot="0">
            <a:off x="640080" y="3246120"/>
            <a:ext cx="73151" cy="1417320"/>
          </a:xfrm>
          <a:prstGeom prst="rect"/>
          <a:solidFill>
            <a:srgbClr val="DC4C4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8" name="矩形"/>
          <p:cNvSpPr>
            <a:spLocks/>
          </p:cNvSpPr>
          <p:nvPr/>
        </p:nvSpPr>
        <p:spPr>
          <a:xfrm rot="0">
            <a:off x="822959" y="3355848"/>
            <a:ext cx="507492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SOS button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9" name="矩形"/>
          <p:cNvSpPr>
            <a:spLocks/>
          </p:cNvSpPr>
          <p:nvPr/>
        </p:nvSpPr>
        <p:spPr>
          <a:xfrm rot="0">
            <a:off x="822959" y="3749039"/>
            <a:ext cx="5074920" cy="454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Triggers a local alert. Remote caregiver contact needs a supported phone/network connection.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0" name="圆角矩形"/>
          <p:cNvSpPr>
            <a:spLocks/>
          </p:cNvSpPr>
          <p:nvPr/>
        </p:nvSpPr>
        <p:spPr>
          <a:xfrm rot="0">
            <a:off x="6217920" y="3246120"/>
            <a:ext cx="5303520" cy="1417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1" name="矩形"/>
          <p:cNvSpPr>
            <a:spLocks/>
          </p:cNvSpPr>
          <p:nvPr/>
        </p:nvSpPr>
        <p:spPr>
          <a:xfrm rot="0">
            <a:off x="6217920" y="3246120"/>
            <a:ext cx="73151" cy="141732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2" name="矩形"/>
          <p:cNvSpPr>
            <a:spLocks/>
          </p:cNvSpPr>
          <p:nvPr/>
        </p:nvSpPr>
        <p:spPr>
          <a:xfrm rot="0">
            <a:off x="6400800" y="335584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Medicine reminder / GPS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6400800" y="3749039"/>
            <a:ext cx="4983480" cy="454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Treat as future upgrades unless built and tested. Location sharing requires a communication path.</a:t>
            </a:r>
            <a:endParaRPr lang="zh-CN" altLang="en-US" sz="13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 rot="0">
            <a:off x="822960" y="5166360"/>
            <a:ext cx="10515600" cy="3398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Label each function as working prototype, planned feature, or future upgrade.</a:t>
            </a:r>
            <a:endParaRPr lang="zh-CN" altLang="en-US" sz="1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297051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6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Prototype logic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7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8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Beginner-friendly control loop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9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08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0" name="圆角矩形"/>
          <p:cNvSpPr>
            <a:spLocks/>
          </p:cNvSpPr>
          <p:nvPr/>
        </p:nvSpPr>
        <p:spPr>
          <a:xfrm rot="0">
            <a:off x="731520" y="1645920"/>
            <a:ext cx="5212080" cy="35661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1" name="矩形"/>
          <p:cNvSpPr>
            <a:spLocks/>
          </p:cNvSpPr>
          <p:nvPr/>
        </p:nvSpPr>
        <p:spPr>
          <a:xfrm rot="0">
            <a:off x="731520" y="1645920"/>
            <a:ext cx="73151" cy="356616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2" name="矩形"/>
          <p:cNvSpPr>
            <a:spLocks/>
          </p:cNvSpPr>
          <p:nvPr/>
        </p:nvSpPr>
        <p:spPr>
          <a:xfrm rot="0">
            <a:off x="914400" y="1755648"/>
            <a:ext cx="489204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Main loop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3" name="矩形"/>
          <p:cNvSpPr>
            <a:spLocks/>
          </p:cNvSpPr>
          <p:nvPr/>
        </p:nvSpPr>
        <p:spPr>
          <a:xfrm rot="0">
            <a:off x="914400" y="2148840"/>
            <a:ext cx="4892040" cy="14733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1. Read sound sensor value.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2. If above threshold, trigger vibration.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3. Read motion data and check simple rules.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4. If SOS button is pressed, trigger SOS pattern.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5. Return to monitoring.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4" name="圆角矩形"/>
          <p:cNvSpPr>
            <a:spLocks/>
          </p:cNvSpPr>
          <p:nvPr/>
        </p:nvSpPr>
        <p:spPr>
          <a:xfrm rot="0">
            <a:off x="6217920" y="1645920"/>
            <a:ext cx="5212080" cy="35661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5" name="矩形"/>
          <p:cNvSpPr>
            <a:spLocks/>
          </p:cNvSpPr>
          <p:nvPr/>
        </p:nvSpPr>
        <p:spPr>
          <a:xfrm rot="0">
            <a:off x="6217920" y="1645920"/>
            <a:ext cx="73151" cy="356616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6" name="矩形"/>
          <p:cNvSpPr>
            <a:spLocks/>
          </p:cNvSpPr>
          <p:nvPr/>
        </p:nvSpPr>
        <p:spPr>
          <a:xfrm rot="0">
            <a:off x="6400800" y="1755648"/>
            <a:ext cx="4892041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Vibration language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7" name="矩形"/>
          <p:cNvSpPr>
            <a:spLocks/>
          </p:cNvSpPr>
          <p:nvPr/>
        </p:nvSpPr>
        <p:spPr>
          <a:xfrm rot="0">
            <a:off x="6400800" y="2148840"/>
            <a:ext cx="4892041" cy="16924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One short pulse: sound alert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Two pulses: possible-fall warning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Long repeating pulses: SOS</a:t>
            </a: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Test patterns with users and provide a way to cancel accidental alerts.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8" name="矩形"/>
          <p:cNvSpPr>
            <a:spLocks/>
          </p:cNvSpPr>
          <p:nvPr/>
        </p:nvSpPr>
        <p:spPr>
          <a:xfrm rot="0">
            <a:off x="822960" y="5532120"/>
            <a:ext cx="10515600" cy="2636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DC4C4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Check each module's voltage and wiring; use a proper motor driver.</a:t>
            </a:r>
            <a:endParaRPr lang="zh-CN" altLang="en-US" sz="1300" b="0" i="0" u="none" strike="noStrike" kern="1200" cap="none" spc="0" baseline="0">
              <a:solidFill>
                <a:srgbClr val="DC4C4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74449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0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Prototype demonstration plan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1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2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Show what works — not unbuilt features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3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09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4" name="圆角矩形"/>
          <p:cNvSpPr>
            <a:spLocks/>
          </p:cNvSpPr>
          <p:nvPr/>
        </p:nvSpPr>
        <p:spPr>
          <a:xfrm rot="0">
            <a:off x="640080" y="1645920"/>
            <a:ext cx="3520440" cy="24688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5" name="矩形"/>
          <p:cNvSpPr>
            <a:spLocks/>
          </p:cNvSpPr>
          <p:nvPr/>
        </p:nvSpPr>
        <p:spPr>
          <a:xfrm rot="0">
            <a:off x="640080" y="1645920"/>
            <a:ext cx="73151" cy="246888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6" name="矩形"/>
          <p:cNvSpPr>
            <a:spLocks/>
          </p:cNvSpPr>
          <p:nvPr/>
        </p:nvSpPr>
        <p:spPr>
          <a:xfrm rot="0">
            <a:off x="822959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Demo 1 • Sound alert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822959" y="2148840"/>
            <a:ext cx="3200400" cy="7303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Make a controlled sound near the sensor and show the vibration response.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8" name="圆角矩形"/>
          <p:cNvSpPr>
            <a:spLocks/>
          </p:cNvSpPr>
          <p:nvPr/>
        </p:nvSpPr>
        <p:spPr>
          <a:xfrm rot="0">
            <a:off x="4343400" y="1645920"/>
            <a:ext cx="3520440" cy="24688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9" name="矩形"/>
          <p:cNvSpPr>
            <a:spLocks/>
          </p:cNvSpPr>
          <p:nvPr/>
        </p:nvSpPr>
        <p:spPr>
          <a:xfrm rot="0">
            <a:off x="4343400" y="1645920"/>
            <a:ext cx="73151" cy="2468880"/>
          </a:xfrm>
          <a:prstGeom prst="rect"/>
          <a:solidFill>
            <a:srgbClr val="DC4C4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0" name="矩形"/>
          <p:cNvSpPr>
            <a:spLocks/>
          </p:cNvSpPr>
          <p:nvPr/>
        </p:nvSpPr>
        <p:spPr>
          <a:xfrm rot="0">
            <a:off x="4526280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Demo 2 • SOS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1" name="矩形"/>
          <p:cNvSpPr>
            <a:spLocks/>
          </p:cNvSpPr>
          <p:nvPr/>
        </p:nvSpPr>
        <p:spPr>
          <a:xfrm rot="0">
            <a:off x="4526280" y="2148840"/>
            <a:ext cx="320040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Press the button and show the alert pattern plus LED/buzzer indication.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2" name="圆角矩形"/>
          <p:cNvSpPr>
            <a:spLocks/>
          </p:cNvSpPr>
          <p:nvPr/>
        </p:nvSpPr>
        <p:spPr>
          <a:xfrm rot="0">
            <a:off x="8046719" y="1645920"/>
            <a:ext cx="3520440" cy="246888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3" name="矩形"/>
          <p:cNvSpPr>
            <a:spLocks/>
          </p:cNvSpPr>
          <p:nvPr/>
        </p:nvSpPr>
        <p:spPr>
          <a:xfrm rot="0">
            <a:off x="8046719" y="1645920"/>
            <a:ext cx="73151" cy="246888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4" name="矩形"/>
          <p:cNvSpPr>
            <a:spLocks/>
          </p:cNvSpPr>
          <p:nvPr/>
        </p:nvSpPr>
        <p:spPr>
          <a:xfrm rot="0">
            <a:off x="8229600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Demo 3 • Motion rule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8229600" y="2148840"/>
            <a:ext cx="3200400" cy="7303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Move the sensor board safely by hand to simulate a trigger. Never ask anyone to fall.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822960" y="4663440"/>
            <a:ext cx="10515600" cy="587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Build and test two reliable functions first. Present GPS, messaging, and medicine reminders as future work unless implemented.</a:t>
            </a:r>
            <a:endParaRPr lang="zh-CN" altLang="en-US" sz="17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94134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What makes CareBand meaningful?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0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Positioning the project honestly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1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10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2" name="圆角矩形"/>
          <p:cNvSpPr>
            <a:spLocks/>
          </p:cNvSpPr>
          <p:nvPr/>
        </p:nvSpPr>
        <p:spPr>
          <a:xfrm rot="0">
            <a:off x="640080" y="1645920"/>
            <a:ext cx="5303520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3" name="矩形"/>
          <p:cNvSpPr>
            <a:spLocks/>
          </p:cNvSpPr>
          <p:nvPr/>
        </p:nvSpPr>
        <p:spPr>
          <a:xfrm rot="0">
            <a:off x="640080" y="1645920"/>
            <a:ext cx="73151" cy="182880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4" name="矩形"/>
          <p:cNvSpPr>
            <a:spLocks/>
          </p:cNvSpPr>
          <p:nvPr/>
        </p:nvSpPr>
        <p:spPr>
          <a:xfrm rot="0">
            <a:off x="822959" y="175564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need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5" name="矩形"/>
          <p:cNvSpPr>
            <a:spLocks/>
          </p:cNvSpPr>
          <p:nvPr/>
        </p:nvSpPr>
        <p:spPr>
          <a:xfrm rot="0">
            <a:off x="822959" y="2148840"/>
            <a:ext cx="4983480" cy="7303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One wearable concept combines tactile alerts and a simple help control for people who may miss alarms or struggle to reach a phone.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6" name="圆角矩形"/>
          <p:cNvSpPr>
            <a:spLocks/>
          </p:cNvSpPr>
          <p:nvPr/>
        </p:nvSpPr>
        <p:spPr>
          <a:xfrm rot="0">
            <a:off x="6217920" y="1645920"/>
            <a:ext cx="5303520" cy="1828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7" name="矩形"/>
          <p:cNvSpPr>
            <a:spLocks/>
          </p:cNvSpPr>
          <p:nvPr/>
        </p:nvSpPr>
        <p:spPr>
          <a:xfrm rot="0">
            <a:off x="6217920" y="1645920"/>
            <a:ext cx="73151" cy="182880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8" name="矩形"/>
          <p:cNvSpPr>
            <a:spLocks/>
          </p:cNvSpPr>
          <p:nvPr/>
        </p:nvSpPr>
        <p:spPr>
          <a:xfrm rot="0">
            <a:off x="6400800" y="1755648"/>
            <a:ext cx="498348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Our differentiator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9" name="矩形"/>
          <p:cNvSpPr>
            <a:spLocks/>
          </p:cNvSpPr>
          <p:nvPr/>
        </p:nvSpPr>
        <p:spPr>
          <a:xfrm rot="0">
            <a:off x="6400800" y="2148840"/>
            <a:ext cx="498348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Affordable modular design, clear vibration patterns, simple controls, and a focus on everyday accessibility.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0" name="圆角矩形"/>
          <p:cNvSpPr>
            <a:spLocks/>
          </p:cNvSpPr>
          <p:nvPr/>
        </p:nvSpPr>
        <p:spPr>
          <a:xfrm rot="0">
            <a:off x="640080" y="3794760"/>
            <a:ext cx="10881359" cy="132587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1" name="矩形"/>
          <p:cNvSpPr>
            <a:spLocks/>
          </p:cNvSpPr>
          <p:nvPr/>
        </p:nvSpPr>
        <p:spPr>
          <a:xfrm rot="0">
            <a:off x="640080" y="3794760"/>
            <a:ext cx="73151" cy="1325879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2" name="矩形"/>
          <p:cNvSpPr>
            <a:spLocks/>
          </p:cNvSpPr>
          <p:nvPr/>
        </p:nvSpPr>
        <p:spPr>
          <a:xfrm rot="0">
            <a:off x="822959" y="3904488"/>
            <a:ext cx="1056132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Novelty caveat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3" name="矩形"/>
          <p:cNvSpPr>
            <a:spLocks/>
          </p:cNvSpPr>
          <p:nvPr/>
        </p:nvSpPr>
        <p:spPr>
          <a:xfrm rot="0">
            <a:off x="822959" y="4297680"/>
            <a:ext cx="10561320" cy="5113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Existing products cover some of these features. Do not claim everything is new; explain your target users, integration, affordability, and design choices.</a:t>
            </a:r>
            <a:endParaRPr lang="zh-CN" altLang="en-US" sz="15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67253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F4F9F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5" name="矩形"/>
          <p:cNvSpPr>
            <a:spLocks/>
          </p:cNvSpPr>
          <p:nvPr/>
        </p:nvSpPr>
        <p:spPr>
          <a:xfrm rot="0">
            <a:off x="502919" y="256031"/>
            <a:ext cx="1115568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practical 3-day build plan</a:t>
            </a:r>
            <a:endParaRPr lang="zh-CN" altLang="en-US" sz="28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6" name="矩形"/>
          <p:cNvSpPr>
            <a:spLocks/>
          </p:cNvSpPr>
          <p:nvPr/>
        </p:nvSpPr>
        <p:spPr>
          <a:xfrm rot="0">
            <a:off x="530352" y="914400"/>
            <a:ext cx="914400" cy="54863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7" name="矩形"/>
          <p:cNvSpPr>
            <a:spLocks/>
          </p:cNvSpPr>
          <p:nvPr/>
        </p:nvSpPr>
        <p:spPr>
          <a:xfrm rot="0">
            <a:off x="548640" y="1024127"/>
            <a:ext cx="10972800" cy="2541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For a small beginner team</a:t>
            </a:r>
            <a:endParaRPr lang="zh-CN" altLang="en-US" sz="12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8" name="矩形"/>
          <p:cNvSpPr>
            <a:spLocks/>
          </p:cNvSpPr>
          <p:nvPr/>
        </p:nvSpPr>
        <p:spPr>
          <a:xfrm rot="0">
            <a:off x="9875520" y="6510528"/>
            <a:ext cx="1828800" cy="187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00898B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 • 11</a:t>
            </a:r>
            <a:endParaRPr lang="zh-CN" altLang="en-US" sz="800" b="0" i="0" u="none" strike="noStrike" kern="1200" cap="none" spc="0" baseline="0">
              <a:solidFill>
                <a:srgbClr val="00898B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9" name="圆角矩形"/>
          <p:cNvSpPr>
            <a:spLocks/>
          </p:cNvSpPr>
          <p:nvPr/>
        </p:nvSpPr>
        <p:spPr>
          <a:xfrm rot="0">
            <a:off x="640080" y="1645920"/>
            <a:ext cx="3520440" cy="2743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0" name="矩形"/>
          <p:cNvSpPr>
            <a:spLocks/>
          </p:cNvSpPr>
          <p:nvPr/>
        </p:nvSpPr>
        <p:spPr>
          <a:xfrm rot="0">
            <a:off x="640080" y="1645920"/>
            <a:ext cx="73151" cy="2743200"/>
          </a:xfrm>
          <a:prstGeom prst="rect"/>
          <a:solidFill>
            <a:srgbClr val="00898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1" name="矩形"/>
          <p:cNvSpPr>
            <a:spLocks/>
          </p:cNvSpPr>
          <p:nvPr/>
        </p:nvSpPr>
        <p:spPr>
          <a:xfrm rot="0">
            <a:off x="822959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Day 1 • Build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822959" y="2148840"/>
            <a:ext cx="3200400" cy="7018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Wire ESP32, sound sensor, motor driver, vibration motor, and SOS button. Test each part.</a:t>
            </a:r>
            <a:endParaRPr lang="zh-CN" altLang="en-US" sz="14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3" name="圆角矩形"/>
          <p:cNvSpPr>
            <a:spLocks/>
          </p:cNvSpPr>
          <p:nvPr/>
        </p:nvSpPr>
        <p:spPr>
          <a:xfrm rot="0">
            <a:off x="4343400" y="1645920"/>
            <a:ext cx="3520440" cy="2743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4" name="矩形"/>
          <p:cNvSpPr>
            <a:spLocks/>
          </p:cNvSpPr>
          <p:nvPr/>
        </p:nvSpPr>
        <p:spPr>
          <a:xfrm rot="0">
            <a:off x="4343400" y="1645920"/>
            <a:ext cx="73151" cy="2743200"/>
          </a:xfrm>
          <a:prstGeom prst="rect"/>
          <a:solidFill>
            <a:srgbClr val="4382B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5" name="矩形"/>
          <p:cNvSpPr>
            <a:spLocks/>
          </p:cNvSpPr>
          <p:nvPr/>
        </p:nvSpPr>
        <p:spPr>
          <a:xfrm rot="0">
            <a:off x="4526280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Day 2 • Code &amp; test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6" name="矩形"/>
          <p:cNvSpPr>
            <a:spLocks/>
          </p:cNvSpPr>
          <p:nvPr/>
        </p:nvSpPr>
        <p:spPr>
          <a:xfrm rot="0">
            <a:off x="4526280" y="2148840"/>
            <a:ext cx="3200400" cy="7018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Implement sound threshold and SOS patterns. Add motion rules only if core functions work.</a:t>
            </a:r>
            <a:endParaRPr lang="zh-CN" altLang="en-US" sz="14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7" name="圆角矩形"/>
          <p:cNvSpPr>
            <a:spLocks/>
          </p:cNvSpPr>
          <p:nvPr/>
        </p:nvSpPr>
        <p:spPr>
          <a:xfrm rot="0">
            <a:off x="8046719" y="1645920"/>
            <a:ext cx="3520440" cy="2743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D7E5E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8" name="矩形"/>
          <p:cNvSpPr>
            <a:spLocks/>
          </p:cNvSpPr>
          <p:nvPr/>
        </p:nvSpPr>
        <p:spPr>
          <a:xfrm rot="0">
            <a:off x="8046719" y="1645920"/>
            <a:ext cx="73151" cy="2743200"/>
          </a:xfrm>
          <a:prstGeom prst="rect"/>
          <a:solidFill>
            <a:srgbClr val="F29D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9" name="矩形"/>
          <p:cNvSpPr>
            <a:spLocks/>
          </p:cNvSpPr>
          <p:nvPr/>
        </p:nvSpPr>
        <p:spPr>
          <a:xfrm rot="0">
            <a:off x="8229600" y="1755648"/>
            <a:ext cx="3200400" cy="3112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Day 3 • Demo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0" name="矩形"/>
          <p:cNvSpPr>
            <a:spLocks/>
          </p:cNvSpPr>
          <p:nvPr/>
        </p:nvSpPr>
        <p:spPr>
          <a:xfrm rot="0">
            <a:off x="8229600" y="2148840"/>
            <a:ext cx="3200400" cy="7018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A3A4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Secure wiring, make simple casing, record demo, polish presentation, list limitations.</a:t>
            </a:r>
            <a:endParaRPr lang="zh-CN" altLang="en-US" sz="1400" b="0" i="0" u="none" strike="noStrike" kern="1200" cap="none" spc="0" baseline="0">
              <a:solidFill>
                <a:srgbClr val="2A3A4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822960" y="4983480"/>
            <a:ext cx="10515600" cy="311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42F4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Team split: hardware/wiring • ESP32 code/testing • documentation/design/presentation.</a:t>
            </a:r>
            <a:endParaRPr lang="zh-CN" altLang="en-US" sz="1600" b="0" i="0" u="none" strike="noStrike" kern="1200" cap="none" spc="0" baseline="0">
              <a:solidFill>
                <a:srgbClr val="142F4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911357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矩形"/>
          <p:cNvSpPr>
            <a:spLocks/>
          </p:cNvSpPr>
          <p:nvPr/>
        </p:nvSpPr>
        <p:spPr>
          <a:xfrm rot="0">
            <a:off x="0" y="0"/>
            <a:ext cx="12191694" cy="6858000"/>
          </a:xfrm>
          <a:prstGeom prst="rect"/>
          <a:solidFill>
            <a:srgbClr val="142F4E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3" name="矩形"/>
          <p:cNvSpPr>
            <a:spLocks/>
          </p:cNvSpPr>
          <p:nvPr/>
        </p:nvSpPr>
        <p:spPr>
          <a:xfrm rot="0">
            <a:off x="777240" y="914400"/>
            <a:ext cx="6400800" cy="7113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CareBand</a:t>
            </a:r>
            <a:endParaRPr lang="zh-CN" altLang="en-US" sz="42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4" name="矩形"/>
          <p:cNvSpPr>
            <a:spLocks/>
          </p:cNvSpPr>
          <p:nvPr/>
        </p:nvSpPr>
        <p:spPr>
          <a:xfrm rot="0">
            <a:off x="822960" y="1828800"/>
            <a:ext cx="7772400" cy="5017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9BEB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Because every life matters.</a:t>
            </a:r>
            <a:endParaRPr lang="zh-CN" altLang="en-US" sz="2800" b="0" i="0" u="none" strike="noStrike" kern="1200" cap="none" spc="0" baseline="0">
              <a:solidFill>
                <a:srgbClr val="9BEB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5" name="矩形"/>
          <p:cNvSpPr>
            <a:spLocks/>
          </p:cNvSpPr>
          <p:nvPr/>
        </p:nvSpPr>
        <p:spPr>
          <a:xfrm rot="0">
            <a:off x="822960" y="2743200"/>
            <a:ext cx="7315200" cy="6637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proposed assistive wearable designed to support safety, accessibility, and independence.</a:t>
            </a:r>
            <a:endParaRPr lang="zh-CN" altLang="en-US" sz="20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6" name="矩形"/>
          <p:cNvSpPr>
            <a:spLocks/>
          </p:cNvSpPr>
          <p:nvPr/>
        </p:nvSpPr>
        <p:spPr>
          <a:xfrm rot="0">
            <a:off x="822960" y="4251960"/>
            <a:ext cx="4572000" cy="4827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Thank you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7" name="矩形"/>
          <p:cNvSpPr>
            <a:spLocks/>
          </p:cNvSpPr>
          <p:nvPr/>
        </p:nvSpPr>
        <p:spPr>
          <a:xfrm rot="0">
            <a:off x="822960" y="5669280"/>
            <a:ext cx="9144001" cy="2541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45720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Student project concept • Not a certified medical or emergency device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2026-10-14T13:28:58Z</dcterms:modified>
</cp:coreProperties>
</file>