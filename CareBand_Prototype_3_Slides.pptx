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2223A"/>
                </a:solidFill>
                <a:latin typeface="Aptos"/>
              </a:rPr>
              <a:t>CAREBAND: Prototype parts &amp;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768096"/>
            <a:ext cx="10972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5F6D7C"/>
                </a:solidFill>
                <a:latin typeface="Aptos"/>
              </a:rPr>
              <a:t>Smart assistive wristband • MyBharat Hack for Social Cause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143000"/>
            <a:ext cx="658368" cy="50292"/>
          </a:xfrm>
          <a:prstGeom prst="rect">
            <a:avLst/>
          </a:prstGeom>
          <a:solidFill>
            <a:srgbClr val="00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 i="0">
                <a:solidFill>
                  <a:srgbClr val="5F6D7C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89888"/>
            <a:ext cx="2926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12223A"/>
                </a:solidFill>
                <a:latin typeface="Aptos"/>
              </a:rPr>
              <a:t>What we are building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64792"/>
            <a:ext cx="4754880" cy="11704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0">
                <a:solidFill>
                  <a:srgbClr val="23313F"/>
                </a:solidFill>
                <a:latin typeface="Aptos"/>
              </a:rPr>
              <a:t>A wearable that turns selected household sounds into vibration alerts and offers a manual SOS button. Motion-based fall warning, medicine reminders and location sharing are planned add-ons.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246120"/>
            <a:ext cx="1965960" cy="475488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ESP32 controller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22191"/>
            <a:ext cx="27432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5F6D7C"/>
                </a:solidFill>
                <a:latin typeface="Aptos"/>
              </a:rPr>
              <a:t>The controller reads sensor inputs and activates the output.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1417320"/>
            <a:ext cx="2560320" cy="1143000"/>
          </a:xfrm>
          <a:prstGeom prst="roundRect">
            <a:avLst/>
          </a:prstGeom>
          <a:solidFill>
            <a:srgbClr val="F5F8FB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0" y="1481328"/>
            <a:ext cx="59436" cy="1014983"/>
          </a:xfrm>
          <a:prstGeom prst="rect">
            <a:avLst/>
          </a:prstGeom>
          <a:solidFill>
            <a:srgbClr val="498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25312" y="1527048"/>
            <a:ext cx="226771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2223A"/>
                </a:solidFill>
                <a:latin typeface="Aptos"/>
              </a:rPr>
              <a:t>Microphone / sound sensor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25312" y="1856232"/>
            <a:ext cx="22677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23313F"/>
                </a:solidFill>
                <a:latin typeface="Aptos"/>
              </a:rPr>
              <a:t>Detects sound level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1417320"/>
            <a:ext cx="2560320" cy="1143000"/>
          </a:xfrm>
          <a:prstGeom prst="roundRect">
            <a:avLst/>
          </a:prstGeom>
          <a:solidFill>
            <a:srgbClr val="F5F8FB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41080" y="1481328"/>
            <a:ext cx="59436" cy="1014983"/>
          </a:xfrm>
          <a:prstGeom prst="rect">
            <a:avLst/>
          </a:prstGeom>
          <a:solidFill>
            <a:srgbClr val="F59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05672" y="1527048"/>
            <a:ext cx="226771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2223A"/>
                </a:solidFill>
                <a:latin typeface="Aptos"/>
              </a:rPr>
              <a:t>MPU6050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05672" y="1856232"/>
            <a:ext cx="22677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23313F"/>
                </a:solidFill>
                <a:latin typeface="Aptos"/>
              </a:rPr>
              <a:t>Measures movement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0" y="2788920"/>
            <a:ext cx="2560320" cy="1143000"/>
          </a:xfrm>
          <a:prstGeom prst="roundRect">
            <a:avLst/>
          </a:prstGeom>
          <a:solidFill>
            <a:srgbClr val="F5F8FB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60720" y="2852927"/>
            <a:ext cx="59436" cy="1014983"/>
          </a:xfrm>
          <a:prstGeom prst="rect">
            <a:avLst/>
          </a:prstGeom>
          <a:solidFill>
            <a:srgbClr val="E05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25312" y="2898648"/>
            <a:ext cx="226771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2223A"/>
                </a:solidFill>
                <a:latin typeface="Aptos"/>
              </a:rPr>
              <a:t>SOS push button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25312" y="3227832"/>
            <a:ext cx="22677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23313F"/>
                </a:solidFill>
                <a:latin typeface="Aptos"/>
              </a:rPr>
              <a:t>Manual help request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41080" y="2788920"/>
            <a:ext cx="2560320" cy="1143000"/>
          </a:xfrm>
          <a:prstGeom prst="roundRect">
            <a:avLst/>
          </a:prstGeom>
          <a:solidFill>
            <a:srgbClr val="F5F8FB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41080" y="2852927"/>
            <a:ext cx="59436" cy="1014983"/>
          </a:xfrm>
          <a:prstGeom prst="rect">
            <a:avLst/>
          </a:prstGeom>
          <a:solidFill>
            <a:srgbClr val="00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05672" y="2898648"/>
            <a:ext cx="226771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2223A"/>
                </a:solidFill>
                <a:latin typeface="Aptos"/>
              </a:rPr>
              <a:t>Vibration motor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05672" y="3227832"/>
            <a:ext cx="22677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23313F"/>
                </a:solidFill>
                <a:latin typeface="Aptos"/>
              </a:rPr>
              <a:t>Silent wrist alert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86600" y="4572000"/>
            <a:ext cx="2697480" cy="82296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0" y="4782312"/>
            <a:ext cx="2423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ESP32: read → decide → alert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040880" y="2560320"/>
            <a:ext cx="640080" cy="2011680"/>
          </a:xfrm>
          <a:prstGeom prst="line">
            <a:avLst/>
          </a:prstGeom>
          <a:ln w="17780">
            <a:solidFill>
              <a:srgbClr val="498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8961120" y="2560320"/>
            <a:ext cx="274320" cy="2011680"/>
          </a:xfrm>
          <a:prstGeom prst="line">
            <a:avLst/>
          </a:prstGeom>
          <a:ln w="17780">
            <a:solidFill>
              <a:srgbClr val="F59D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040880" y="3931920"/>
            <a:ext cx="548640" cy="640080"/>
          </a:xfrm>
          <a:prstGeom prst="line">
            <a:avLst/>
          </a:prstGeom>
          <a:ln w="17780">
            <a:solidFill>
              <a:srgbClr val="E05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9052560" y="3931920"/>
            <a:ext cx="182880" cy="640080"/>
          </a:xfrm>
          <a:prstGeom prst="line">
            <a:avLst/>
          </a:prstGeom>
          <a:ln w="17780">
            <a:solidFill>
              <a:srgbClr val="009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31520" y="5806440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5F6D7C"/>
                </a:solidFill>
                <a:latin typeface="Aptos"/>
              </a:rPr>
              <a:t>Also required: USB power / suitable battery, jumper wires, breadboard and a wrist strap/case.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144768"/>
            <a:ext cx="10789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009991"/>
                </a:solidFill>
                <a:latin typeface="Aptos"/>
              </a:rPr>
              <a:t>Optional upgrades: GPS module + a phone/network connection for remote location alerts.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2223A"/>
                </a:solidFill>
                <a:latin typeface="Aptos"/>
              </a:rPr>
              <a:t>How the prototype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768096"/>
            <a:ext cx="10972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5F6D7C"/>
                </a:solidFill>
                <a:latin typeface="Aptos"/>
              </a:rPr>
              <a:t>Sensor input → ESP32 processing → vibration or emergency response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143000"/>
            <a:ext cx="658368" cy="50292"/>
          </a:xfrm>
          <a:prstGeom prst="rect">
            <a:avLst/>
          </a:prstGeom>
          <a:solidFill>
            <a:srgbClr val="00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 i="0">
                <a:solidFill>
                  <a:srgbClr val="5F6D7C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2331720" cy="457200"/>
          </a:xfrm>
          <a:prstGeom prst="roundRect">
            <a:avLst/>
          </a:prstGeom>
          <a:solidFill>
            <a:srgbClr val="E7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4984DE"/>
                </a:solidFill>
                <a:latin typeface="Aptos"/>
              </a:rPr>
              <a:t>1.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50592"/>
            <a:ext cx="233172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 i="0">
                <a:solidFill>
                  <a:srgbClr val="23313F"/>
                </a:solidFill>
                <a:latin typeface="Aptos"/>
              </a:rPr>
              <a:t>Microphone senses sound
MPU6050 senses movement
SOS button is pressed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98648" y="2057400"/>
            <a:ext cx="420624" cy="0"/>
          </a:xfrm>
          <a:prstGeom prst="line">
            <a:avLst/>
          </a:prstGeom>
          <a:ln w="21590">
            <a:solidFill>
              <a:srgbClr val="5F6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429000" y="1828800"/>
            <a:ext cx="2331720" cy="457200"/>
          </a:xfrm>
          <a:prstGeom prst="roundRect">
            <a:avLst/>
          </a:prstGeom>
          <a:solidFill>
            <a:srgbClr val="E0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009991"/>
                </a:solidFill>
                <a:latin typeface="Aptos"/>
              </a:rPr>
              <a:t>2. 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450592"/>
            <a:ext cx="233172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 i="0">
                <a:solidFill>
                  <a:srgbClr val="23313F"/>
                </a:solidFill>
                <a:latin typeface="Aptos"/>
              </a:rPr>
              <a:t>ESP32 checks programmed rules:
sound threshold, motion pattern,
or SOS button state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24728" y="2057400"/>
            <a:ext cx="420624" cy="0"/>
          </a:xfrm>
          <a:prstGeom prst="line">
            <a:avLst/>
          </a:prstGeom>
          <a:ln w="21590">
            <a:solidFill>
              <a:srgbClr val="5F6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355080" y="1828800"/>
            <a:ext cx="2331720" cy="4572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59D42"/>
                </a:solidFill>
                <a:latin typeface="Aptos"/>
              </a:rPr>
              <a:t>3.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450592"/>
            <a:ext cx="233172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 i="0">
                <a:solidFill>
                  <a:srgbClr val="23313F"/>
                </a:solidFill>
                <a:latin typeface="Aptos"/>
              </a:rPr>
              <a:t>Vibration motor alerts wearer;
optional buzzer / LED gives feedback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50808" y="2057400"/>
            <a:ext cx="420624" cy="0"/>
          </a:xfrm>
          <a:prstGeom prst="line">
            <a:avLst/>
          </a:prstGeom>
          <a:ln w="21590">
            <a:solidFill>
              <a:srgbClr val="5F6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281160" y="1828800"/>
            <a:ext cx="2331720" cy="457200"/>
          </a:xfrm>
          <a:prstGeom prst="roundRect">
            <a:avLst/>
          </a:prstGeom>
          <a:solidFill>
            <a:srgbClr val="F0E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8367C7"/>
                </a:solidFill>
                <a:latin typeface="Aptos"/>
              </a:rPr>
              <a:t>4. OPTIONAL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2450592"/>
            <a:ext cx="233172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 i="0">
                <a:solidFill>
                  <a:srgbClr val="23313F"/>
                </a:solidFill>
                <a:latin typeface="Aptos"/>
              </a:rPr>
              <a:t>Phone/cellular link can send
SOS and GPS location to caregiver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069080"/>
            <a:ext cx="5303520" cy="1280160"/>
          </a:xfrm>
          <a:prstGeom prst="roundRect">
            <a:avLst/>
          </a:prstGeom>
          <a:solidFill>
            <a:srgbClr val="F5F8FB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133088"/>
            <a:ext cx="59436" cy="1152143"/>
          </a:xfrm>
          <a:prstGeom prst="rect">
            <a:avLst/>
          </a:prstGeom>
          <a:solidFill>
            <a:srgbClr val="00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4178808"/>
            <a:ext cx="501091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2223A"/>
                </a:solidFill>
                <a:latin typeface="Aptos"/>
              </a:rPr>
              <a:t>Example A — Sound alert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4507992"/>
            <a:ext cx="5010912" cy="7772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23313F"/>
                </a:solidFill>
                <a:latin typeface="Aptos"/>
              </a:rPr>
              <a:t>A loud sound is detected → ESP32 triggers a vibration pulse. A basic sensor detects sound level, not necessarily whether it is a cooker or doorbell.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069080"/>
            <a:ext cx="5303520" cy="1280160"/>
          </a:xfrm>
          <a:prstGeom prst="roundRect">
            <a:avLst/>
          </a:prstGeom>
          <a:solidFill>
            <a:srgbClr val="F5F8FB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4133088"/>
            <a:ext cx="59436" cy="1152143"/>
          </a:xfrm>
          <a:prstGeom prst="rect">
            <a:avLst/>
          </a:prstGeom>
          <a:solidFill>
            <a:srgbClr val="E05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4178808"/>
            <a:ext cx="501091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2223A"/>
                </a:solidFill>
                <a:latin typeface="Aptos"/>
              </a:rPr>
              <a:t>Example B — SOS / possible fall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4507992"/>
            <a:ext cx="5010912" cy="7772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23313F"/>
                </a:solidFill>
                <a:latin typeface="Aptos"/>
              </a:rPr>
              <a:t>SOS press triggers a local alert. Motion data can flag a possible fall, but fall detection can make mistakes and needs testing.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806440"/>
            <a:ext cx="10789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1">
                <a:solidFill>
                  <a:srgbClr val="5F6D7C"/>
                </a:solidFill>
                <a:latin typeface="Aptos"/>
              </a:rPr>
              <a:t>Important: GPS alone does not send messages. Remote alerts need a connected phone, Wi-Fi where available, or a cellular module.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2223A"/>
                </a:solidFill>
                <a:latin typeface="Aptos"/>
              </a:rPr>
              <a:t>Parts checklist &amp;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768096"/>
            <a:ext cx="10972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5F6D7C"/>
                </a:solidFill>
                <a:latin typeface="Aptos"/>
              </a:rPr>
              <a:t>Show a working core prototype first; explain other features as future upgrades.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143000"/>
            <a:ext cx="658368" cy="50292"/>
          </a:xfrm>
          <a:prstGeom prst="rect">
            <a:avLst/>
          </a:prstGeom>
          <a:solidFill>
            <a:srgbClr val="00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 i="0">
                <a:solidFill>
                  <a:srgbClr val="5F6D7C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49240" cy="1234440"/>
          </a:xfrm>
          <a:prstGeom prst="roundRect">
            <a:avLst/>
          </a:prstGeom>
          <a:solidFill>
            <a:srgbClr val="F5F8FB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81328"/>
            <a:ext cx="59436" cy="1106424"/>
          </a:xfrm>
          <a:prstGeom prst="rect">
            <a:avLst/>
          </a:prstGeom>
          <a:solidFill>
            <a:srgbClr val="00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527048"/>
            <a:ext cx="5056631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2223A"/>
                </a:solidFill>
                <a:latin typeface="Aptos"/>
              </a:rPr>
              <a:t>Core parts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856232"/>
            <a:ext cx="5056631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23313F"/>
                </a:solidFill>
                <a:latin typeface="Aptos"/>
              </a:rPr>
              <a:t>• ESP32 board • sound sensor / microphone
• vibration motor + suitable driver
• SOS button • wires / breadboard • power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349240" cy="1234440"/>
          </a:xfrm>
          <a:prstGeom prst="roundRect">
            <a:avLst/>
          </a:prstGeom>
          <a:solidFill>
            <a:srgbClr val="F5F8FB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481328"/>
            <a:ext cx="59436" cy="1106424"/>
          </a:xfrm>
          <a:prstGeom prst="rect">
            <a:avLst/>
          </a:prstGeom>
          <a:solidFill>
            <a:srgbClr val="498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527048"/>
            <a:ext cx="5056631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2223A"/>
                </a:solidFill>
                <a:latin typeface="Aptos"/>
              </a:rPr>
              <a:t>Optional parts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856232"/>
            <a:ext cx="5056631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23313F"/>
                </a:solidFill>
                <a:latin typeface="Aptos"/>
              </a:rPr>
              <a:t>• MPU6050 for movement
• GPS module for location
• Buzzer / LED • phone or cellular connection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26080"/>
            <a:ext cx="3474720" cy="1417320"/>
          </a:xfrm>
          <a:prstGeom prst="roundRect">
            <a:avLst/>
          </a:prstGeom>
          <a:solidFill>
            <a:srgbClr val="F5F8FB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990088"/>
            <a:ext cx="59436" cy="1289304"/>
          </a:xfrm>
          <a:prstGeom prst="rect">
            <a:avLst/>
          </a:prstGeom>
          <a:solidFill>
            <a:srgbClr val="00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" y="3035808"/>
            <a:ext cx="318211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2223A"/>
                </a:solidFill>
                <a:latin typeface="Aptos"/>
              </a:rPr>
              <a:t>Demo 1: sound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3364992"/>
            <a:ext cx="3182112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23313F"/>
                </a:solidFill>
                <a:latin typeface="Aptos"/>
              </a:rPr>
              <a:t>Play a doorbell sound or clap near the sensor. Show the vibration motor responding.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2926080"/>
            <a:ext cx="3474720" cy="1417320"/>
          </a:xfrm>
          <a:prstGeom prst="roundRect">
            <a:avLst/>
          </a:prstGeom>
          <a:solidFill>
            <a:srgbClr val="F5F8FB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2990088"/>
            <a:ext cx="59436" cy="1289304"/>
          </a:xfrm>
          <a:prstGeom prst="rect">
            <a:avLst/>
          </a:prstGeom>
          <a:solidFill>
            <a:srgbClr val="E05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7992" y="3035808"/>
            <a:ext cx="318211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2223A"/>
                </a:solidFill>
                <a:latin typeface="Aptos"/>
              </a:rPr>
              <a:t>Demo 2: SOS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3364992"/>
            <a:ext cx="3182112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23313F"/>
                </a:solidFill>
                <a:latin typeface="Aptos"/>
              </a:rPr>
              <a:t>Press the SOS button. Show the local alert; only claim remote alerts if tested.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2926080"/>
            <a:ext cx="3474720" cy="1417320"/>
          </a:xfrm>
          <a:prstGeom prst="roundRect">
            <a:avLst/>
          </a:prstGeom>
          <a:solidFill>
            <a:srgbClr val="F5F8FB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2990088"/>
            <a:ext cx="59436" cy="1289304"/>
          </a:xfrm>
          <a:prstGeom prst="rect">
            <a:avLst/>
          </a:prstGeom>
          <a:solidFill>
            <a:srgbClr val="F59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1312" y="3035808"/>
            <a:ext cx="318211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2223A"/>
                </a:solidFill>
                <a:latin typeface="Aptos"/>
              </a:rPr>
              <a:t>Demo 3: motion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1312" y="3364992"/>
            <a:ext cx="3182112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23313F"/>
                </a:solidFill>
                <a:latin typeface="Aptos"/>
              </a:rPr>
              <a:t>Tilt or move the board by hand to demonstrate sensor readings; do not make anyone actually fall.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800600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12223A"/>
                </a:solidFill>
                <a:latin typeface="Aptos"/>
              </a:rPr>
              <a:t>Build order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193792"/>
            <a:ext cx="1069848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 i="0">
                <a:solidFill>
                  <a:srgbClr val="23313F"/>
                </a:solidFill>
                <a:latin typeface="Aptos"/>
              </a:rPr>
              <a:t>1) Test ESP32  →  2) SOS button  →  3) sound-to-vibration  →  4) motion sensor  →  5) optional phone/GPS.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897880"/>
            <a:ext cx="2011680" cy="384048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E05053"/>
                </a:solidFill>
                <a:latin typeface="Aptos"/>
              </a:rPr>
              <a:t>Safety &amp; accuracy note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5925312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5F6D7C"/>
                </a:solidFill>
                <a:latin typeface="Aptos"/>
              </a:rPr>
              <a:t>This is a student prototype, not a certified medical or emergency device. Test for false alarms.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CareBand Prototype — 3 Slide Diagram</dc:title>
  <dc:subject>Compact prototype sensors and working presentation</dc:subject>
  <dc:creator>CareBand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